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0E5C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00E5CC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0E5C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 Presentation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743200" cy="27432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peer-to-peer task management system with unlimited delegation chains, Notion-like notes, calendar, and team collaboration.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0160">
            <a:solidFill>
              <a:srgbClr val="00E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552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3246120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0160">
            <a:solidFill>
              <a:srgbClr val="00D6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32552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80944" y="3246120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0160">
            <a:solidFill>
              <a:srgbClr val="B08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80944" y="32552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42816" y="3246120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32552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92624" y="786384"/>
            <a:ext cx="3730752" cy="40050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822960"/>
            <a:ext cx="3657600" cy="3931920"/>
          </a:xfrm>
          <a:prstGeom prst="rect">
            <a:avLst/>
          </a:prstGeom>
          <a:solidFill>
            <a:srgbClr val="0C1420"/>
          </a:solidFill>
          <a:ln w="19050">
            <a:solidFill>
              <a:srgbClr val="182A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02352" y="877824"/>
            <a:ext cx="64008" cy="6400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877824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321808" y="877824"/>
            <a:ext cx="64008" cy="6400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1005840"/>
            <a:ext cx="365760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1005840"/>
            <a:ext cx="914400" cy="3749040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26" name="Shape 24"/>
          <p:cNvSpPr/>
          <p:nvPr/>
        </p:nvSpPr>
        <p:spPr>
          <a:xfrm>
            <a:off x="5138928" y="10789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E5CC"/>
          </a:solidFill>
          <a:ln/>
        </p:spPr>
      </p:sp>
      <p:sp>
        <p:nvSpPr>
          <p:cNvPr id="27" name="Text 25"/>
          <p:cNvSpPr/>
          <p:nvPr/>
        </p:nvSpPr>
        <p:spPr>
          <a:xfrm>
            <a:off x="5138928" y="10881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431536" y="1078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29200" y="1444752"/>
            <a:ext cx="9144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1444752"/>
            <a:ext cx="2286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14813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02352" y="18013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02352" y="21214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02352" y="24414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102352" y="27614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16752" y="1417320"/>
            <a:ext cx="777240" cy="64008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016752" y="1783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885432" y="1417320"/>
            <a:ext cx="777240" cy="64008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85432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85432" y="1783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754112" y="1417320"/>
            <a:ext cx="777240" cy="64008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54112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754112" y="1783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989320" y="2176272"/>
            <a:ext cx="2633472" cy="246888"/>
          </a:xfrm>
          <a:prstGeom prst="rect">
            <a:avLst/>
          </a:prstGeom>
          <a:solidFill>
            <a:srgbClr val="0F1C2E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2203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MySQL schema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989320" y="2468880"/>
            <a:ext cx="2633472" cy="246888"/>
          </a:xfrm>
          <a:prstGeom prst="rect">
            <a:avLst/>
          </a:prstGeom>
          <a:solidFill>
            <a:srgbClr val="0F1C2E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2496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989320" y="2761488"/>
            <a:ext cx="2633472" cy="246888"/>
          </a:xfrm>
          <a:prstGeom prst="rect">
            <a:avLst/>
          </a:prstGeom>
          <a:solidFill>
            <a:srgbClr val="0F1C2E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2788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989320" y="3054096"/>
            <a:ext cx="2633472" cy="246888"/>
          </a:xfrm>
          <a:prstGeom prst="rect">
            <a:avLst/>
          </a:prstGeom>
          <a:solidFill>
            <a:srgbClr val="0F1C2E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3081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Pal  ·  Shubham Mendhe  ·  BCA VI Sem  ·  2024–25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 &amp; Visual Identity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typography, and components that define TaskFlow's UI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3474720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29184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174650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Teal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" y="187452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actions, active states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51760" y="179222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#00E5CC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157984"/>
            <a:ext cx="329184" cy="274320"/>
          </a:xfrm>
          <a:prstGeom prst="rect">
            <a:avLst/>
          </a:prstGeom>
          <a:solidFill>
            <a:srgbClr val="B08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216712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2951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Secondary, accents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51760" y="221284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#B083FF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78608"/>
            <a:ext cx="329184" cy="274320"/>
          </a:xfrm>
          <a:prstGeom prst="rect">
            <a:avLst/>
          </a:prstGeom>
          <a:solidFill>
            <a:srgbClr val="00D67B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258775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" y="271576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completed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51760" y="263347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#00D67B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0080" y="2999232"/>
            <a:ext cx="329184" cy="274320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3008376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2416" y="3136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Warnings, delegated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51760" y="30540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#FFAA00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0080" y="3419856"/>
            <a:ext cx="329184" cy="274320"/>
          </a:xfrm>
          <a:prstGeom prst="rect">
            <a:avLst/>
          </a:prstGeom>
          <a:solidFill>
            <a:srgbClr val="FF3D5A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" y="3429000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35570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urgent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51760" y="347472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#FF3D5A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329184" cy="274320"/>
          </a:xfrm>
          <a:prstGeom prst="rect">
            <a:avLst/>
          </a:prstGeom>
          <a:solidFill>
            <a:srgbClr val="E2E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" y="384962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2416" y="397764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51760" y="389534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#E2EFFF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0080" y="4261104"/>
            <a:ext cx="329184" cy="274320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33" name="Text 31"/>
          <p:cNvSpPr/>
          <p:nvPr/>
        </p:nvSpPr>
        <p:spPr>
          <a:xfrm>
            <a:off x="1042416" y="427024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42416" y="439826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base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51760" y="431596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#060B12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29000" y="1280160"/>
            <a:ext cx="2560320" cy="3474720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1188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11880" y="1847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TITLE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61188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TaskFlow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611880" y="2322576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· 900 · 22pt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11880" y="2487168"/>
            <a:ext cx="219456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42" name="Text 40"/>
          <p:cNvSpPr/>
          <p:nvPr/>
        </p:nvSpPr>
        <p:spPr>
          <a:xfrm>
            <a:off x="3611880" y="2596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11880" y="2761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Manage tasks seamlessly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11880" y="3072384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· 400 · 14pt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11880" y="3236976"/>
            <a:ext cx="219456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46" name="Text 44"/>
          <p:cNvSpPr/>
          <p:nvPr/>
        </p:nvSpPr>
        <p:spPr>
          <a:xfrm>
            <a:off x="3611880" y="33467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MONO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611880" y="35112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/api/tasks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11880" y="38221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New · 400 · 12pt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11880" y="3986784"/>
            <a:ext cx="219456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50" name="Text 48"/>
          <p:cNvSpPr/>
          <p:nvPr/>
        </p:nvSpPr>
        <p:spPr>
          <a:xfrm>
            <a:off x="3611880" y="40965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META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611880" y="4261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2h ago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11880" y="457200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· 400 · 10pt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172200" y="1280160"/>
            <a:ext cx="2560320" cy="3474720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5508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55080" y="1691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55080" y="1920240"/>
            <a:ext cx="1051560" cy="292608"/>
          </a:xfrm>
          <a:prstGeom prst="roundRect">
            <a:avLst>
              <a:gd name="adj" fmla="val 21875"/>
            </a:avLst>
          </a:prstGeom>
          <a:solidFill>
            <a:srgbClr val="00E5CC"/>
          </a:solidFill>
          <a:ln/>
        </p:spPr>
      </p:sp>
      <p:sp>
        <p:nvSpPr>
          <p:cNvPr id="57" name="Text 55"/>
          <p:cNvSpPr/>
          <p:nvPr/>
        </p:nvSpPr>
        <p:spPr>
          <a:xfrm>
            <a:off x="6355080" y="19293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98080" y="1920240"/>
            <a:ext cx="105156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0"/>
            </a:srgbClr>
          </a:solidFill>
          <a:ln w="15240">
            <a:solidFill>
              <a:srgbClr val="182A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19293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55080" y="2350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2578608"/>
            <a:ext cx="1051560" cy="237744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0160">
            <a:solidFill>
              <a:srgbClr val="00D67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26060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635240" y="2578608"/>
            <a:ext cx="1051560" cy="237744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0160">
            <a:solidFill>
              <a:srgbClr val="00E5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26060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55080" y="2926080"/>
            <a:ext cx="1051560" cy="237744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0160">
            <a:solidFill>
              <a:srgbClr val="6A88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2953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635240" y="2926080"/>
            <a:ext cx="1051560" cy="237744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0160">
            <a:solidFill>
              <a:srgbClr val="FF3D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35240" y="2953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355080" y="3337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355080" y="3547872"/>
            <a:ext cx="2194560" cy="320040"/>
          </a:xfrm>
          <a:prstGeom prst="rect">
            <a:avLst/>
          </a:prstGeom>
          <a:solidFill>
            <a:srgbClr val="060B12"/>
          </a:solidFill>
          <a:ln w="15240">
            <a:solidFill>
              <a:srgbClr val="00E5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46520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tasks…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355080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355080" y="4206240"/>
            <a:ext cx="347472" cy="347472"/>
          </a:xfrm>
          <a:prstGeom prst="ellipse">
            <a:avLst/>
          </a:prstGeom>
          <a:solidFill>
            <a:srgbClr val="000000"/>
          </a:solidFill>
          <a:ln w="15240">
            <a:solidFill>
              <a:srgbClr val="00E5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4233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812280" y="4206240"/>
            <a:ext cx="347472" cy="347472"/>
          </a:xfrm>
          <a:prstGeom prst="ellipse">
            <a:avLst/>
          </a:prstGeom>
          <a:solidFill>
            <a:srgbClr val="000000"/>
          </a:solidFill>
          <a:ln w="15240">
            <a:solidFill>
              <a:srgbClr val="B083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12280" y="4233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269480" y="4206240"/>
            <a:ext cx="347472" cy="347472"/>
          </a:xfrm>
          <a:prstGeom prst="ellipse">
            <a:avLst/>
          </a:prstGeom>
          <a:solidFill>
            <a:srgbClr val="000000"/>
          </a:solidFill>
          <a:ln w="15240">
            <a:solidFill>
              <a:srgbClr val="00D67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69480" y="4233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726680" y="4206240"/>
            <a:ext cx="347472" cy="347472"/>
          </a:xfrm>
          <a:prstGeom prst="ellipse">
            <a:avLst/>
          </a:prstGeom>
          <a:solidFill>
            <a:srgbClr val="000000"/>
          </a:solidFill>
          <a:ln w="15240">
            <a:solidFill>
              <a:srgbClr val="FFAA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26680" y="4233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046720" y="4206240"/>
            <a:ext cx="548640" cy="310896"/>
          </a:xfrm>
          <a:prstGeom prst="roundRect">
            <a:avLst>
              <a:gd name="adj" fmla="val 29412"/>
            </a:avLst>
          </a:prstGeom>
          <a:solidFill>
            <a:srgbClr val="0F1C2E"/>
          </a:solidFill>
          <a:ln w="12700">
            <a:solidFill>
              <a:srgbClr val="182A4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83296" y="4242816"/>
            <a:ext cx="237744" cy="237744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83" name="Text 81"/>
          <p:cNvSpPr/>
          <p:nvPr/>
        </p:nvSpPr>
        <p:spPr>
          <a:xfrm>
            <a:off x="8284464" y="42793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Dark (default) / Light — toggle in topbar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01  · 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overview of tasks, team, and upcoming events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1197864"/>
            <a:ext cx="5559552" cy="37764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00" cy="3703320"/>
          </a:xfrm>
          <a:prstGeom prst="rect">
            <a:avLst/>
          </a:prstGeom>
          <a:solidFill>
            <a:srgbClr val="0C1420"/>
          </a:solidFill>
          <a:ln w="19050">
            <a:solidFill>
              <a:srgbClr val="182A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89304"/>
            <a:ext cx="64008" cy="6400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289304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289304"/>
            <a:ext cx="64008" cy="6400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417320"/>
            <a:ext cx="548640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417320"/>
            <a:ext cx="960120" cy="3520440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" y="15087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E5C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51790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58952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9601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1901952"/>
            <a:ext cx="2286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19385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38912" y="225856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38912" y="25786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8912" y="289864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38912" y="321868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25880" y="1417320"/>
            <a:ext cx="4526280" cy="384048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1499616"/>
            <a:ext cx="1645920" cy="237744"/>
          </a:xfrm>
          <a:prstGeom prst="rect">
            <a:avLst/>
          </a:prstGeom>
          <a:solidFill>
            <a:srgbClr val="0C1420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15179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Search…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353312" y="1847088"/>
            <a:ext cx="4462272" cy="54864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4752" y="1892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Siddhant 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44752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 due today · 3 awaiting action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353312" y="2487168"/>
            <a:ext cx="1024128" cy="64008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253288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53312" y="28254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68880" y="2487168"/>
            <a:ext cx="1024128" cy="64008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53288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468880" y="28254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584448" y="2487168"/>
            <a:ext cx="1024128" cy="64008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253288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584448" y="28254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00016" y="2487168"/>
            <a:ext cx="1024128" cy="64008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0016" y="253288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700016" y="28254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Soon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53312" y="3218688"/>
            <a:ext cx="2743200" cy="160020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4752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Tasks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444752" y="3566160"/>
            <a:ext cx="91440" cy="91440"/>
          </a:xfrm>
          <a:prstGeom prst="ellipse">
            <a:avLst/>
          </a:prstGeom>
          <a:solidFill>
            <a:srgbClr val="00D67B"/>
          </a:solidFill>
          <a:ln/>
        </p:spPr>
      </p:sp>
      <p:sp>
        <p:nvSpPr>
          <p:cNvPr id="45" name="Text 43"/>
          <p:cNvSpPr/>
          <p:nvPr/>
        </p:nvSpPr>
        <p:spPr>
          <a:xfrm>
            <a:off x="1600200" y="35387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MySQL schema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444752" y="3867912"/>
            <a:ext cx="91440" cy="91440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47" name="Text 45"/>
          <p:cNvSpPr/>
          <p:nvPr/>
        </p:nvSpPr>
        <p:spPr>
          <a:xfrm>
            <a:off x="160020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444752" y="4169664"/>
            <a:ext cx="91440" cy="91440"/>
          </a:xfrm>
          <a:prstGeom prst="ellipse">
            <a:avLst/>
          </a:prstGeom>
          <a:solidFill>
            <a:srgbClr val="6A88AA"/>
          </a:solidFill>
          <a:ln/>
        </p:spPr>
      </p:sp>
      <p:sp>
        <p:nvSpPr>
          <p:cNvPr id="49" name="Text 47"/>
          <p:cNvSpPr/>
          <p:nvPr/>
        </p:nvSpPr>
        <p:spPr>
          <a:xfrm>
            <a:off x="1600200" y="4142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444752" y="4471416"/>
            <a:ext cx="91440" cy="91440"/>
          </a:xfrm>
          <a:prstGeom prst="ellipse">
            <a:avLst/>
          </a:prstGeom>
          <a:solidFill>
            <a:srgbClr val="6A88AA"/>
          </a:solidFill>
          <a:ln/>
        </p:spPr>
      </p:sp>
      <p:sp>
        <p:nvSpPr>
          <p:cNvPr id="51" name="Text 49"/>
          <p:cNvSpPr/>
          <p:nvPr/>
        </p:nvSpPr>
        <p:spPr>
          <a:xfrm>
            <a:off x="1600200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187952" y="3218688"/>
            <a:ext cx="1627632" cy="160020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79392" y="3291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79392" y="3566160"/>
            <a:ext cx="34747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FF3D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79392" y="356616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4279392" y="37124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63440" y="359359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279392" y="3950208"/>
            <a:ext cx="34747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9392" y="395020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4279392" y="40965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63440" y="397764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279392" y="4334256"/>
            <a:ext cx="34747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D6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79392" y="43342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4279392" y="448056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663440" y="4361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035040" y="1234440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172200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6656832" y="1307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656832" y="1527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of total, completed, delegated, and due-soon tasks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035040" y="2203704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172200" y="22951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656832" y="2276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Preview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656832" y="2496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tasks with status dots and quick navigation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35040" y="3172968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172200" y="3264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656832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Panel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656832" y="34655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 from calendar surfaced directly on dashboard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035040" y="4142232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172200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6656832" y="4215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Online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656832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team presence indicators with glowing animation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02  ·  TASKS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task table with delegation chain visualization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1197864"/>
            <a:ext cx="5559552" cy="37764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00" cy="3703320"/>
          </a:xfrm>
          <a:prstGeom prst="rect">
            <a:avLst/>
          </a:prstGeom>
          <a:solidFill>
            <a:srgbClr val="0C1420"/>
          </a:solidFill>
          <a:ln w="19050">
            <a:solidFill>
              <a:srgbClr val="182A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89304"/>
            <a:ext cx="64008" cy="6400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289304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289304"/>
            <a:ext cx="64008" cy="6400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417320"/>
            <a:ext cx="548640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417320"/>
            <a:ext cx="960120" cy="3520440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5087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" y="19293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96012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212848"/>
            <a:ext cx="20117" cy="25603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2402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9768" y="25511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9768" y="28620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1729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389888" y="150876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0160">
            <a:solidFill>
              <a:srgbClr val="00E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15179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(7)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76856" y="150876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76856" y="15179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63824" y="150876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15179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50792" y="150876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0792" y="15179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937760" y="150876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5179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353312" y="1847088"/>
            <a:ext cx="4462272" cy="256032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32" name="Text 30"/>
          <p:cNvSpPr/>
          <p:nvPr/>
        </p:nvSpPr>
        <p:spPr>
          <a:xfrm>
            <a:off x="1417320" y="18836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099816" y="1883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050792" y="18836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27448" y="18836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04104" y="188366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53312" y="2103120"/>
            <a:ext cx="4462272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38" name="Shape 36"/>
          <p:cNvSpPr/>
          <p:nvPr/>
        </p:nvSpPr>
        <p:spPr>
          <a:xfrm>
            <a:off x="1353312" y="2139696"/>
            <a:ext cx="4462272" cy="292608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9" name="Shape 37"/>
          <p:cNvSpPr/>
          <p:nvPr/>
        </p:nvSpPr>
        <p:spPr>
          <a:xfrm>
            <a:off x="1426464" y="2212848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00D6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9344" y="22037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MySQL schema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27248" y="219456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27248" y="22037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383280" y="2212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18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005072" y="2203704"/>
            <a:ext cx="50292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FF3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05072" y="22128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90288" y="2203704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00D6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90288" y="2212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353312" y="2459736"/>
            <a:ext cx="4462272" cy="29260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49" name="Shape 47"/>
          <p:cNvSpPr/>
          <p:nvPr/>
        </p:nvSpPr>
        <p:spPr>
          <a:xfrm>
            <a:off x="1426464" y="2532888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09344" y="25237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127248" y="251460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27248" y="2523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383280" y="2532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05072" y="2523744"/>
            <a:ext cx="50292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FF3D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05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590288" y="2523744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00E5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0288" y="2532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353312" y="2779776"/>
            <a:ext cx="4462272" cy="292608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59" name="Shape 57"/>
          <p:cNvSpPr/>
          <p:nvPr/>
        </p:nvSpPr>
        <p:spPr>
          <a:xfrm>
            <a:off x="1426464" y="2852928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09344" y="2843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127248" y="283464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27248" y="28437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3383280" y="28529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24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005072" y="2843784"/>
            <a:ext cx="50292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FFAA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05072" y="28529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90288" y="2843784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6A88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90288" y="28529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353312" y="3099816"/>
            <a:ext cx="4462272" cy="29260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69" name="Shape 67"/>
          <p:cNvSpPr/>
          <p:nvPr/>
        </p:nvSpPr>
        <p:spPr>
          <a:xfrm>
            <a:off x="1426464" y="3172968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09344" y="3163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UI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609344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delegated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127248" y="315468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27248" y="31638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383280" y="31729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005072" y="3163824"/>
            <a:ext cx="50292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FF3D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05072" y="3172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590288" y="3163824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6A88A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90288" y="31729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353312" y="3419856"/>
            <a:ext cx="4462272" cy="292608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80" name="Shape 78"/>
          <p:cNvSpPr/>
          <p:nvPr/>
        </p:nvSpPr>
        <p:spPr>
          <a:xfrm>
            <a:off x="1426464" y="3493008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09344" y="3483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 Sidebar nav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127248" y="347472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27248" y="34838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3383280" y="34930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23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005072" y="3483864"/>
            <a:ext cx="50292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FFAA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05072" y="34930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590288" y="3483864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00E5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90288" y="34930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353312" y="3739896"/>
            <a:ext cx="4462272" cy="29260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90" name="Shape 88"/>
          <p:cNvSpPr/>
          <p:nvPr/>
        </p:nvSpPr>
        <p:spPr>
          <a:xfrm>
            <a:off x="1426464" y="3813048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609344" y="3803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notifications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127248" y="379476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127248" y="38039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3383280" y="38130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01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005072" y="3803904"/>
            <a:ext cx="50292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00D67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05072" y="3813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590288" y="3803904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7620">
            <a:solidFill>
              <a:srgbClr val="6A88A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90288" y="38130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035040" y="1234440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6172200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</a:t>
            </a:r>
            <a:endParaRPr lang="en-US" sz="1800" dirty="0"/>
          </a:p>
        </p:txBody>
      </p:sp>
      <p:sp>
        <p:nvSpPr>
          <p:cNvPr id="101" name="Text 99"/>
          <p:cNvSpPr/>
          <p:nvPr/>
        </p:nvSpPr>
        <p:spPr>
          <a:xfrm>
            <a:off x="6656832" y="1307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Filters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6656832" y="1527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All, Pending, Active, Done, or Delegated with live counts per tab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035040" y="2203704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6172200" y="22951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6656832" y="2276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Indicator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6656832" y="2496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delegated to others are marked with ↗ badge and amber color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035040" y="3172968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6172200" y="3264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6656832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for Detail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6656832" y="34655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row opens a slide-in detail drawer from the right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035040" y="4142232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6172200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6656832" y="4215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System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6656832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status: Pending → Active → Done with color-coded badges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03  ·  NOTES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Notion-like Nested Notes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page nesting, block editor with slash commands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1197864"/>
            <a:ext cx="5559552" cy="37764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00" cy="3703320"/>
          </a:xfrm>
          <a:prstGeom prst="rect">
            <a:avLst/>
          </a:prstGeom>
          <a:solidFill>
            <a:srgbClr val="0C1420"/>
          </a:solidFill>
          <a:ln w="19050">
            <a:solidFill>
              <a:srgbClr val="182A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89304"/>
            <a:ext cx="64008" cy="6400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289304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289304"/>
            <a:ext cx="64008" cy="6400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417320"/>
            <a:ext cx="548640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417320"/>
            <a:ext cx="960120" cy="3520440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15087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" y="19293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9768" y="22037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960120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450592"/>
            <a:ext cx="20117" cy="237744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47802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9768" y="275234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02666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3310128"/>
            <a:ext cx="960120" cy="1627632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355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65760" y="3511296"/>
            <a:ext cx="960120" cy="2194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35295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BCA Project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29768" y="377647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📁 DB Schema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9768" y="402336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API Docs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29768" y="427024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Meetings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9768" y="451713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Research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25880" y="1417320"/>
            <a:ext cx="4526280" cy="292608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30" name="Text 28"/>
          <p:cNvSpPr/>
          <p:nvPr/>
        </p:nvSpPr>
        <p:spPr>
          <a:xfrm>
            <a:off x="1389888" y="1481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Workspace  /  🚀 BCA Project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148132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8890">
            <a:solidFill>
              <a:srgbClr val="182A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490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sub-page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325880" y="1709928"/>
            <a:ext cx="4526280" cy="32004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4" name="Text 32"/>
          <p:cNvSpPr/>
          <p:nvPr/>
        </p:nvSpPr>
        <p:spPr>
          <a:xfrm>
            <a:off x="1389888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17320" y="22128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Project — TaskFlow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389888" y="2688336"/>
            <a:ext cx="438912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37" name="Text 35"/>
          <p:cNvSpPr/>
          <p:nvPr/>
        </p:nvSpPr>
        <p:spPr>
          <a:xfrm>
            <a:off x="1389888" y="26974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Feb 20, 2025  ·  10 blocks  ·  3 sub-pages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389888" y="2907792"/>
            <a:ext cx="4389120" cy="274320"/>
          </a:xfrm>
          <a:prstGeom prst="rect">
            <a:avLst/>
          </a:prstGeom>
          <a:solidFill>
            <a:srgbClr val="000000"/>
          </a:solidFill>
          <a:ln w="8890">
            <a:solidFill>
              <a:srgbClr val="FFA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81328" y="29443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This doc tracks full development of TaskFlow — BCA VI Semester project.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389888" y="3236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389888" y="3547872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00E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81912" y="3547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MySQL schema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89888" y="3803904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81912" y="38039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 with Express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389888" y="4059936"/>
            <a:ext cx="137160" cy="137160"/>
          </a:xfrm>
          <a:prstGeom prst="rect">
            <a:avLst/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81912" y="40599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UI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389888" y="4279392"/>
            <a:ext cx="4389120" cy="256032"/>
          </a:xfrm>
          <a:prstGeom prst="rect">
            <a:avLst/>
          </a:prstGeom>
          <a:solidFill>
            <a:srgbClr val="020609"/>
          </a:solidFill>
          <a:ln w="8890">
            <a:solidFill>
              <a:srgbClr val="182A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81328" y="4315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/api/tasks/:id/delegate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35040" y="1234440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172200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656832" y="1307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Nesting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56832" y="1527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inside pages, unlimited depth — browse via collapsible sidebar tree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35040" y="2203704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172200" y="22951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656832" y="2276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56832" y="2496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'/' to open block menu: Text, H1–H3, To-do, Quote, Callout, Code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35040" y="3172968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172200" y="3264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656832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Blocks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56832" y="34655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Checkboxes, code blocks, callouts — all editable inline like a real editor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35040" y="4142232"/>
            <a:ext cx="2743200" cy="859536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172200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656832" y="4215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Sub-page Cards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56832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pages shown as clickable cards at bottom of each page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04 &amp; 05  ·  CALENDAR &amp;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Team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grid view with events + delegation chain visualizer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" y="1517904"/>
            <a:ext cx="4187952" cy="345643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4114800" cy="3383280"/>
          </a:xfrm>
          <a:prstGeom prst="rect">
            <a:avLst/>
          </a:prstGeom>
          <a:solidFill>
            <a:srgbClr val="0C1420"/>
          </a:solidFill>
          <a:ln w="19050">
            <a:solidFill>
              <a:srgbClr val="182A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09344"/>
            <a:ext cx="64008" cy="6400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609344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1609344"/>
            <a:ext cx="64008" cy="6400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37360"/>
            <a:ext cx="411480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737360"/>
            <a:ext cx="4114800" cy="347472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1810512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8890">
            <a:solidFill>
              <a:srgbClr val="00E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8196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749040" y="1810512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8890">
            <a:solidFill>
              <a:srgbClr val="182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8196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" y="21214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097280" y="21214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664208" y="21214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231136" y="21214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798064" y="21214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364992" y="21214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931920" y="21214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231136" y="234086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3682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98064" y="234086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23682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64992" y="234086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23682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31920" y="234086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78224" y="23682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" y="288950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2916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97280" y="288950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2916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64208" y="288950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10512" y="2916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31136" y="288950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0" y="2916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98064" y="288950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44368" y="2916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64992" y="288950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1296" y="2916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931920" y="288950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78224" y="2916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0352" y="343814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" y="34655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97280" y="343814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43584" y="34655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664208" y="343814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10512" y="34655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31136" y="343814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77440" y="34655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98064" y="343814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44368" y="34655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364992" y="343814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11296" y="34655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931920" y="343814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78224" y="34655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30352" y="398678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" y="40142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97280" y="398678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43584" y="4014216"/>
            <a:ext cx="219456" cy="201168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66" name="Text 64"/>
          <p:cNvSpPr/>
          <p:nvPr/>
        </p:nvSpPr>
        <p:spPr>
          <a:xfrm>
            <a:off x="1243584" y="402336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664208" y="398678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10512" y="40142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231136" y="398678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77440" y="40142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258568" y="4242816"/>
            <a:ext cx="475488" cy="146304"/>
          </a:xfrm>
          <a:prstGeom prst="rect">
            <a:avLst/>
          </a:prstGeom>
          <a:solidFill>
            <a:srgbClr val="000000"/>
          </a:solidFill>
          <a:ln w="5080">
            <a:solidFill>
              <a:srgbClr val="00E5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58568" y="425196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2798064" y="398678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44368" y="40142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364992" y="398678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11296" y="40142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92424" y="4242816"/>
            <a:ext cx="475488" cy="146304"/>
          </a:xfrm>
          <a:prstGeom prst="rect">
            <a:avLst/>
          </a:prstGeom>
          <a:solidFill>
            <a:srgbClr val="000000"/>
          </a:solidFill>
          <a:ln w="5080">
            <a:solidFill>
              <a:srgbClr val="00D67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92424" y="425196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3931920" y="398678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78224" y="40142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30352" y="453542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6656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097280" y="453542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43584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664208" y="4535424"/>
            <a:ext cx="530352" cy="457200"/>
          </a:xfrm>
          <a:prstGeom prst="rect">
            <a:avLst/>
          </a:prstGeom>
          <a:solidFill>
            <a:srgbClr val="0F1C2E"/>
          </a:solidFill>
          <a:ln w="5080">
            <a:solidFill>
              <a:srgbClr val="182A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10512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691640" y="4791456"/>
            <a:ext cx="475488" cy="146304"/>
          </a:xfrm>
          <a:prstGeom prst="rect">
            <a:avLst/>
          </a:prstGeom>
          <a:solidFill>
            <a:srgbClr val="000000"/>
          </a:solidFill>
          <a:ln w="5080">
            <a:solidFill>
              <a:srgbClr val="FF3D5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691640" y="48006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550" dirty="0"/>
          </a:p>
        </p:txBody>
      </p:sp>
      <p:sp>
        <p:nvSpPr>
          <p:cNvPr id="89" name="Text 87"/>
          <p:cNvSpPr/>
          <p:nvPr/>
        </p:nvSpPr>
        <p:spPr>
          <a:xfrm>
            <a:off x="475488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&amp; Delegation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718304" y="1517904"/>
            <a:ext cx="4187952" cy="345643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4754880" y="1554480"/>
            <a:ext cx="4114800" cy="3383280"/>
          </a:xfrm>
          <a:prstGeom prst="rect">
            <a:avLst/>
          </a:prstGeom>
          <a:solidFill>
            <a:srgbClr val="0C1420"/>
          </a:solidFill>
          <a:ln w="19050">
            <a:solidFill>
              <a:srgbClr val="182A4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28032" y="1609344"/>
            <a:ext cx="64008" cy="6400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3" name="Shape 91"/>
          <p:cNvSpPr/>
          <p:nvPr/>
        </p:nvSpPr>
        <p:spPr>
          <a:xfrm>
            <a:off x="4937760" y="1609344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4" name="Shape 92"/>
          <p:cNvSpPr/>
          <p:nvPr/>
        </p:nvSpPr>
        <p:spPr>
          <a:xfrm>
            <a:off x="5047488" y="1609344"/>
            <a:ext cx="64008" cy="6400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5" name="Shape 93"/>
          <p:cNvSpPr/>
          <p:nvPr/>
        </p:nvSpPr>
        <p:spPr>
          <a:xfrm>
            <a:off x="4754880" y="1737360"/>
            <a:ext cx="411480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96" name="Shape 94"/>
          <p:cNvSpPr/>
          <p:nvPr/>
        </p:nvSpPr>
        <p:spPr>
          <a:xfrm>
            <a:off x="4800600" y="1737360"/>
            <a:ext cx="4023360" cy="1371600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19472" y="1810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Chain Visualizer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919472" y="1993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"React dashboard UI"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029200" y="2212848"/>
            <a:ext cx="1005840" cy="749808"/>
          </a:xfrm>
          <a:prstGeom prst="rect">
            <a:avLst/>
          </a:prstGeom>
          <a:solidFill>
            <a:srgbClr val="0C142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358384" y="2286000"/>
            <a:ext cx="347472" cy="347472"/>
          </a:xfrm>
          <a:prstGeom prst="ellipse">
            <a:avLst/>
          </a:prstGeom>
          <a:solidFill>
            <a:srgbClr val="000000"/>
          </a:solidFill>
          <a:ln w="15240">
            <a:solidFill>
              <a:srgbClr val="B083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58384" y="22951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029200" y="26609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5029200" y="2807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035040" y="2560320"/>
            <a:ext cx="237744" cy="2286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05" name="Text 103"/>
          <p:cNvSpPr/>
          <p:nvPr/>
        </p:nvSpPr>
        <p:spPr>
          <a:xfrm>
            <a:off x="6236208" y="2505456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272784" y="2212848"/>
            <a:ext cx="1005840" cy="749808"/>
          </a:xfrm>
          <a:prstGeom prst="rect">
            <a:avLst/>
          </a:prstGeom>
          <a:solidFill>
            <a:srgbClr val="0C142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601968" y="2286000"/>
            <a:ext cx="347472" cy="347472"/>
          </a:xfrm>
          <a:prstGeom prst="ellipse">
            <a:avLst/>
          </a:prstGeom>
          <a:solidFill>
            <a:srgbClr val="000000"/>
          </a:solidFill>
          <a:ln w="15240">
            <a:solidFill>
              <a:srgbClr val="00D67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01968" y="22951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272784" y="26609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272784" y="2807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DELEGATOR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7278624" y="2560320"/>
            <a:ext cx="237744" cy="2286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12" name="Text 110"/>
          <p:cNvSpPr/>
          <p:nvPr/>
        </p:nvSpPr>
        <p:spPr>
          <a:xfrm>
            <a:off x="7479792" y="2505456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7516368" y="2212848"/>
            <a:ext cx="1005840" cy="7498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7845552" y="2286000"/>
            <a:ext cx="347472" cy="347472"/>
          </a:xfrm>
          <a:prstGeom prst="ellipse">
            <a:avLst/>
          </a:prstGeom>
          <a:solidFill>
            <a:srgbClr val="000000"/>
          </a:solidFill>
          <a:ln w="15240">
            <a:solidFill>
              <a:srgbClr val="FFAA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45552" y="22951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16368" y="26609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7516368" y="2807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8412480" y="2514600"/>
            <a:ext cx="91440" cy="91440"/>
          </a:xfrm>
          <a:prstGeom prst="ellipse">
            <a:avLst/>
          </a:prstGeom>
          <a:solidFill>
            <a:srgbClr val="00D67B"/>
          </a:solidFill>
          <a:ln/>
        </p:spPr>
      </p:sp>
      <p:sp>
        <p:nvSpPr>
          <p:cNvPr id="119" name="Text 117"/>
          <p:cNvSpPr/>
          <p:nvPr/>
        </p:nvSpPr>
        <p:spPr>
          <a:xfrm>
            <a:off x="8229600" y="262432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4919472" y="3090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828032" y="3328416"/>
            <a:ext cx="1828800" cy="566928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919472" y="343814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19472" y="344728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5330952" y="34198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Pal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330952" y="3648456"/>
            <a:ext cx="1234440" cy="73152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330952" y="3648456"/>
            <a:ext cx="407365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27" name="Text 125"/>
          <p:cNvSpPr/>
          <p:nvPr/>
        </p:nvSpPr>
        <p:spPr>
          <a:xfrm>
            <a:off x="5330952" y="375818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 tasks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6839712" y="3328416"/>
            <a:ext cx="1828800" cy="566928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931152" y="343814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B083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931152" y="344728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7342632" y="34198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M.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7342632" y="3648456"/>
            <a:ext cx="1234440" cy="73152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342632" y="3648456"/>
            <a:ext cx="61722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34" name="Text 132"/>
          <p:cNvSpPr/>
          <p:nvPr/>
        </p:nvSpPr>
        <p:spPr>
          <a:xfrm>
            <a:off x="7342632" y="375818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tasks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4828032" y="4005072"/>
            <a:ext cx="1828800" cy="566928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919472" y="4114800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D67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19472" y="41239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5330952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S.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5330952" y="4325112"/>
            <a:ext cx="1234440" cy="73152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40" name="Text 138"/>
          <p:cNvSpPr/>
          <p:nvPr/>
        </p:nvSpPr>
        <p:spPr>
          <a:xfrm>
            <a:off x="533095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tasks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6839712" y="4005072"/>
            <a:ext cx="1828800" cy="566928"/>
          </a:xfrm>
          <a:prstGeom prst="rect">
            <a:avLst/>
          </a:prstGeom>
          <a:solidFill>
            <a:srgbClr val="0F1C2E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931152" y="4114800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931152" y="41239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7342632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V.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342632" y="4325112"/>
            <a:ext cx="1234440" cy="73152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46" name="Text 144"/>
          <p:cNvSpPr/>
          <p:nvPr/>
        </p:nvSpPr>
        <p:spPr>
          <a:xfrm>
            <a:off x="734263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tasks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&amp; MODALS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Modals, Drawers &amp; Notifications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overlays with smooth animations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 Modal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200400" cy="3474720"/>
          </a:xfrm>
          <a:prstGeom prst="rect">
            <a:avLst/>
          </a:prstGeom>
          <a:solidFill>
            <a:srgbClr val="0C1420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3200400" cy="45720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64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New Task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can assign to anyone — no fixed roles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94360" y="2121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94360" y="2286000"/>
            <a:ext cx="2907792" cy="274320"/>
          </a:xfrm>
          <a:prstGeom prst="rect">
            <a:avLst/>
          </a:prstGeom>
          <a:solidFill>
            <a:srgbClr val="060B12"/>
          </a:solidFill>
          <a:ln w="10160">
            <a:solidFill>
              <a:srgbClr val="00E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31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Set up authentication module…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6700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4360" y="28346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43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581912" y="28346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81912" y="2843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9464" y="28346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2843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2004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00000"/>
          </a:solidFill>
          <a:ln w="15240">
            <a:solidFill>
              <a:srgbClr val="B08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34564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B08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34655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8313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581912" y="33832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60B12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5376" y="34564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D6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5376" y="34655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581912" y="38313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9464" y="33832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60B12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52928" y="34564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34655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69464" y="38313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" y="4114800"/>
            <a:ext cx="2907792" cy="34747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12394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Detail Drawer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40480" y="1572768"/>
            <a:ext cx="2286000" cy="3474720"/>
          </a:xfrm>
          <a:prstGeom prst="rect">
            <a:avLst/>
          </a:prstGeom>
          <a:solidFill>
            <a:srgbClr val="0C1420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0" y="1572768"/>
            <a:ext cx="2286000" cy="36576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39" name="Text 37"/>
          <p:cNvSpPr/>
          <p:nvPr/>
        </p:nvSpPr>
        <p:spPr>
          <a:xfrm>
            <a:off x="3977640" y="1664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Detail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77640" y="2029968"/>
            <a:ext cx="621792" cy="201168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 w="8890">
            <a:solidFill>
              <a:srgbClr val="00E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20391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672584" y="2029968"/>
            <a:ext cx="621792" cy="201168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 w="8890">
            <a:solidFill>
              <a:srgbClr val="FF3D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20391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367528" y="2029968"/>
            <a:ext cx="621792" cy="201168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 w="8890">
            <a:solidFill>
              <a:srgbClr val="FFAA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67528" y="20391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↗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9776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UI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77640" y="26883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with stats, task list, calendar, team overview. Vite + React + dark/light mode.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77640" y="32735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828032" y="3255264"/>
            <a:ext cx="182880" cy="182880"/>
          </a:xfrm>
          <a:prstGeom prst="ellipse">
            <a:avLst/>
          </a:prstGeom>
          <a:solidFill>
            <a:srgbClr val="000000"/>
          </a:solidFill>
          <a:ln w="8890">
            <a:solidFill>
              <a:srgbClr val="B083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2644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47488" y="32826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M.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977640" y="35844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828032" y="3566160"/>
            <a:ext cx="182880" cy="182880"/>
          </a:xfrm>
          <a:prstGeom prst="ellipse">
            <a:avLst/>
          </a:prstGeom>
          <a:solidFill>
            <a:srgbClr val="000000"/>
          </a:solidFill>
          <a:ln w="8890">
            <a:solidFill>
              <a:srgbClr val="00D67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575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047488" y="35935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977640" y="38953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828032" y="39044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26, 2025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977640" y="4178808"/>
            <a:ext cx="2029968" cy="310896"/>
          </a:xfrm>
          <a:prstGeom prst="rect">
            <a:avLst/>
          </a:prstGeom>
          <a:solidFill>
            <a:srgbClr val="00D67B"/>
          </a:solidFill>
          <a:ln/>
        </p:spPr>
      </p:sp>
      <p:sp>
        <p:nvSpPr>
          <p:cNvPr id="59" name="Text 57"/>
          <p:cNvSpPr/>
          <p:nvPr/>
        </p:nvSpPr>
        <p:spPr>
          <a:xfrm>
            <a:off x="3977640" y="418795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 Complete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977640" y="4535424"/>
            <a:ext cx="2029968" cy="274320"/>
          </a:xfrm>
          <a:prstGeom prst="rect">
            <a:avLst/>
          </a:prstGeom>
          <a:solidFill>
            <a:srgbClr val="000000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77640" y="45445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Delegate Task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00800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Panel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400800" y="1572768"/>
            <a:ext cx="2468880" cy="3474720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0" y="1572768"/>
            <a:ext cx="2468880" cy="347472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65" name="Text 63"/>
          <p:cNvSpPr/>
          <p:nvPr/>
        </p:nvSpPr>
        <p:spPr>
          <a:xfrm>
            <a:off x="6510528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00800" y="2011680"/>
            <a:ext cx="24688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6400800" y="2011680"/>
            <a:ext cx="246888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68" name="Shape 66"/>
          <p:cNvSpPr/>
          <p:nvPr/>
        </p:nvSpPr>
        <p:spPr>
          <a:xfrm>
            <a:off x="6510528" y="2121408"/>
            <a:ext cx="320040" cy="320040"/>
          </a:xfrm>
          <a:prstGeom prst="rect">
            <a:avLst/>
          </a:prstGeom>
          <a:solidFill>
            <a:srgbClr val="0C142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10528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876288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assigned 'Build REST API' to you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876288" y="24688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ago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705088" y="2304288"/>
            <a:ext cx="91440" cy="91440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73" name="Shape 71"/>
          <p:cNvSpPr/>
          <p:nvPr/>
        </p:nvSpPr>
        <p:spPr>
          <a:xfrm>
            <a:off x="6400800" y="2715768"/>
            <a:ext cx="24688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4" name="Shape 72"/>
          <p:cNvSpPr/>
          <p:nvPr/>
        </p:nvSpPr>
        <p:spPr>
          <a:xfrm>
            <a:off x="6400800" y="2715768"/>
            <a:ext cx="246888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75" name="Shape 73"/>
          <p:cNvSpPr/>
          <p:nvPr/>
        </p:nvSpPr>
        <p:spPr>
          <a:xfrm>
            <a:off x="6510528" y="2825496"/>
            <a:ext cx="320040" cy="320040"/>
          </a:xfrm>
          <a:prstGeom prst="rect">
            <a:avLst/>
          </a:prstGeom>
          <a:solidFill>
            <a:srgbClr val="0C142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10528" y="2825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876288" y="2807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delegated 'Sidebar nav' to Rahul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876288" y="31729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ago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705088" y="3008376"/>
            <a:ext cx="91440" cy="91440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80" name="Shape 78"/>
          <p:cNvSpPr/>
          <p:nvPr/>
        </p:nvSpPr>
        <p:spPr>
          <a:xfrm>
            <a:off x="6400800" y="3419856"/>
            <a:ext cx="2468880" cy="64008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81" name="Shape 79"/>
          <p:cNvSpPr/>
          <p:nvPr/>
        </p:nvSpPr>
        <p:spPr>
          <a:xfrm>
            <a:off x="6400800" y="3419856"/>
            <a:ext cx="246888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82" name="Shape 80"/>
          <p:cNvSpPr/>
          <p:nvPr/>
        </p:nvSpPr>
        <p:spPr>
          <a:xfrm>
            <a:off x="6510528" y="3529584"/>
            <a:ext cx="320040" cy="320040"/>
          </a:xfrm>
          <a:prstGeom prst="rect">
            <a:avLst/>
          </a:prstGeom>
          <a:solidFill>
            <a:srgbClr val="0C142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10528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876288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accepted 'Sidebar nav component'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876288" y="38770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ago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400800" y="4123944"/>
            <a:ext cx="2468880" cy="640080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87" name="Shape 85"/>
          <p:cNvSpPr/>
          <p:nvPr/>
        </p:nvSpPr>
        <p:spPr>
          <a:xfrm>
            <a:off x="6400800" y="4123944"/>
            <a:ext cx="2468880" cy="7315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88" name="Shape 86"/>
          <p:cNvSpPr/>
          <p:nvPr/>
        </p:nvSpPr>
        <p:spPr>
          <a:xfrm>
            <a:off x="6510528" y="4233672"/>
            <a:ext cx="320040" cy="320040"/>
          </a:xfrm>
          <a:prstGeom prst="rect">
            <a:avLst/>
          </a:prstGeom>
          <a:solidFill>
            <a:srgbClr val="0C1420"/>
          </a:solidFill>
          <a:ln w="10160">
            <a:solidFill>
              <a:srgbClr val="182A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10528" y="4233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876288" y="4215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event: Sprint Review on Feb 22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876288" y="45811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ago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6400800" y="4828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all as read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&amp; Light Theme Toggle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theme switch with full system-wide color adaptation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931920" cy="3383280"/>
          </a:xfrm>
          <a:prstGeom prst="rect">
            <a:avLst/>
          </a:prstGeom>
          <a:solidFill>
            <a:srgbClr val="0C1420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060B1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61872" y="1664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011680"/>
            <a:ext cx="859536" cy="640080"/>
          </a:xfrm>
          <a:prstGeom prst="rect">
            <a:avLst/>
          </a:prstGeom>
          <a:solidFill>
            <a:srgbClr val="0F1C2E"/>
          </a:solidFill>
          <a:ln w="8890">
            <a:solidFill>
              <a:srgbClr val="182A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481328" y="2011680"/>
            <a:ext cx="859536" cy="640080"/>
          </a:xfrm>
          <a:prstGeom prst="rect">
            <a:avLst/>
          </a:prstGeom>
          <a:solidFill>
            <a:srgbClr val="0F1C2E"/>
          </a:solidFill>
          <a:ln w="8890">
            <a:solidFill>
              <a:srgbClr val="182A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81328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432304" y="2011680"/>
            <a:ext cx="859536" cy="640080"/>
          </a:xfrm>
          <a:prstGeom prst="rect">
            <a:avLst/>
          </a:prstGeom>
          <a:solidFill>
            <a:srgbClr val="0F1C2E"/>
          </a:solidFill>
          <a:ln w="8890">
            <a:solidFill>
              <a:srgbClr val="182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2304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32304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83280" y="2011680"/>
            <a:ext cx="859536" cy="640080"/>
          </a:xfrm>
          <a:prstGeom prst="rect">
            <a:avLst/>
          </a:prstGeom>
          <a:solidFill>
            <a:srgbClr val="0F1C2E"/>
          </a:solidFill>
          <a:ln w="8890">
            <a:solidFill>
              <a:srgbClr val="18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83280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30352" y="2761488"/>
            <a:ext cx="3785616" cy="310896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16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MySQL schema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3108960"/>
            <a:ext cx="3785616" cy="310896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638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0352" y="3456432"/>
            <a:ext cx="3785616" cy="310896"/>
          </a:xfrm>
          <a:prstGeom prst="rect">
            <a:avLst/>
          </a:prstGeom>
          <a:solidFill>
            <a:srgbClr val="0F1C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11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" y="3822192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Surface · Border · Text · Accent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30352" y="4005072"/>
            <a:ext cx="694944" cy="274320"/>
          </a:xfrm>
          <a:prstGeom prst="rect">
            <a:avLst/>
          </a:prstGeom>
          <a:solidFill>
            <a:srgbClr val="060B12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98448" y="4005072"/>
            <a:ext cx="694944" cy="274320"/>
          </a:xfrm>
          <a:prstGeom prst="rect">
            <a:avLst/>
          </a:prstGeom>
          <a:solidFill>
            <a:srgbClr val="0C1420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66544" y="4005072"/>
            <a:ext cx="694944" cy="274320"/>
          </a:xfrm>
          <a:prstGeom prst="rect">
            <a:avLst/>
          </a:prstGeom>
          <a:solidFill>
            <a:srgbClr val="0F1C2E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4005072"/>
            <a:ext cx="694944" cy="274320"/>
          </a:xfrm>
          <a:prstGeom prst="rect">
            <a:avLst/>
          </a:prstGeom>
          <a:solidFill>
            <a:srgbClr val="E2EFFF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02736" y="4005072"/>
            <a:ext cx="694944" cy="274320"/>
          </a:xfrm>
          <a:prstGeom prst="rect">
            <a:avLst/>
          </a:prstGeom>
          <a:solidFill>
            <a:srgbClr val="00E5CC"/>
          </a:solidFill>
          <a:ln w="6350">
            <a:solidFill>
              <a:srgbClr val="182A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Light Mode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1554480"/>
            <a:ext cx="393192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645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76672" y="16459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28032" y="2011680"/>
            <a:ext cx="859536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28032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828032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79008" y="2011680"/>
            <a:ext cx="859536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779008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779008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29984" y="2011680"/>
            <a:ext cx="859536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729984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729984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680960" y="2011680"/>
            <a:ext cx="859536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680960" y="2066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680960" y="23774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28032" y="2761488"/>
            <a:ext cx="3785616" cy="310896"/>
          </a:xfrm>
          <a:prstGeom prst="rect">
            <a:avLst/>
          </a:prstGeom>
          <a:solidFill>
            <a:srgbClr val="EFF3FA"/>
          </a:solidFill>
          <a:ln w="5080">
            <a:solidFill>
              <a:srgbClr val="D8E2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2816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MySQL schema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28032" y="3108960"/>
            <a:ext cx="378561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8E2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1638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28032" y="3456432"/>
            <a:ext cx="3785616" cy="310896"/>
          </a:xfrm>
          <a:prstGeom prst="rect">
            <a:avLst/>
          </a:prstGeom>
          <a:solidFill>
            <a:srgbClr val="EFF3FA"/>
          </a:solidFill>
          <a:ln w="5080">
            <a:solidFill>
              <a:srgbClr val="D8E2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511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28032" y="3822192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Surface · Border · Text · Accent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28032" y="4005072"/>
            <a:ext cx="694944" cy="274320"/>
          </a:xfrm>
          <a:prstGeom prst="rect">
            <a:avLst/>
          </a:prstGeom>
          <a:solidFill>
            <a:srgbClr val="EFF3FA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96128" y="4005072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64224" y="4005072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2320" y="4005072"/>
            <a:ext cx="694944" cy="274320"/>
          </a:xfrm>
          <a:prstGeom prst="rect">
            <a:avLst/>
          </a:prstGeom>
          <a:solidFill>
            <a:srgbClr val="0D1B2E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0416" y="4005072"/>
            <a:ext cx="694944" cy="274320"/>
          </a:xfrm>
          <a:prstGeom prst="rect">
            <a:avLst/>
          </a:prstGeom>
          <a:solidFill>
            <a:srgbClr val="007A6A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24528" y="2926080"/>
            <a:ext cx="694944" cy="329184"/>
          </a:xfrm>
          <a:prstGeom prst="rect">
            <a:avLst/>
          </a:prstGeom>
          <a:solidFill>
            <a:srgbClr val="0F1C2E"/>
          </a:solidFill>
          <a:ln w="12700">
            <a:solidFill>
              <a:srgbClr val="182A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61104" y="2962656"/>
            <a:ext cx="256032" cy="256032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66" name="Text 64"/>
          <p:cNvSpPr/>
          <p:nvPr/>
        </p:nvSpPr>
        <p:spPr>
          <a:xfrm>
            <a:off x="4526280" y="29900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3931920" y="3310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&amp; Navigation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move through TaskFlow's core workflows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B08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40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12344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19476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23317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00E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340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12344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0" y="19476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00D6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340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Filter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63640" y="12344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1399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55080" y="19476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23317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FFA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340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Editor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2918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720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43891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00E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98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31720" y="32918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33172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42316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Task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0" y="43891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FFA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398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1→M Chain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97680" y="32918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9768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38912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43891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FF3D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398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63640" y="3291840"/>
            <a:ext cx="1737360" cy="1600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35508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75120" y="438912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8890">
            <a:solidFill>
              <a:srgbClr val="00D6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4398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Viz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03120" y="2029968"/>
            <a:ext cx="274320" cy="0"/>
          </a:xfrm>
          <a:prstGeom prst="line">
            <a:avLst/>
          </a:prstGeom>
          <a:noFill/>
          <a:ln w="15240">
            <a:solidFill>
              <a:srgbClr val="2E4A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84832" y="19476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069080" y="2029968"/>
            <a:ext cx="274320" cy="0"/>
          </a:xfrm>
          <a:prstGeom prst="line">
            <a:avLst/>
          </a:prstGeom>
          <a:noFill/>
          <a:ln w="15240">
            <a:solidFill>
              <a:srgbClr val="2E4A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50792" y="19476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35040" y="2029968"/>
            <a:ext cx="274320" cy="0"/>
          </a:xfrm>
          <a:prstGeom prst="line">
            <a:avLst/>
          </a:prstGeom>
          <a:noFill/>
          <a:ln w="15240">
            <a:solidFill>
              <a:srgbClr val="2E4A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16752" y="19476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103120" y="4087368"/>
            <a:ext cx="274320" cy="0"/>
          </a:xfrm>
          <a:prstGeom prst="line">
            <a:avLst/>
          </a:prstGeom>
          <a:noFill/>
          <a:ln w="15240">
            <a:solidFill>
              <a:srgbClr val="2E4A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84832" y="40050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69080" y="4087368"/>
            <a:ext cx="274320" cy="0"/>
          </a:xfrm>
          <a:prstGeom prst="line">
            <a:avLst/>
          </a:prstGeom>
          <a:noFill/>
          <a:ln w="15240">
            <a:solidFill>
              <a:srgbClr val="2E4A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50792" y="40050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035040" y="4087368"/>
            <a:ext cx="274320" cy="0"/>
          </a:xfrm>
          <a:prstGeom prst="line">
            <a:avLst/>
          </a:prstGeom>
          <a:noFill/>
          <a:ln w="15240">
            <a:solidFill>
              <a:srgbClr val="2E4A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16752" y="40050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54680" y="2834640"/>
            <a:ext cx="0" cy="457200"/>
          </a:xfrm>
          <a:prstGeom prst="line">
            <a:avLst/>
          </a:prstGeom>
          <a:noFill/>
          <a:ln w="15240">
            <a:solidFill>
              <a:srgbClr val="2E4A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3200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321040" y="1234440"/>
            <a:ext cx="685800" cy="3520440"/>
          </a:xfrm>
          <a:prstGeom prst="rect">
            <a:avLst/>
          </a:prstGeom>
          <a:solidFill>
            <a:srgbClr val="0F1C2E"/>
          </a:solidFill>
          <a:ln w="15240">
            <a:solidFill>
              <a:srgbClr val="182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321040" y="13716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8321040" y="178308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321040" y="22860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every</a:t>
            </a:r>
            <a:endParaRPr lang="en-US" sz="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522208" y="3200400"/>
            <a:ext cx="91440" cy="91440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65" name="Shape 63"/>
          <p:cNvSpPr/>
          <p:nvPr/>
        </p:nvSpPr>
        <p:spPr>
          <a:xfrm>
            <a:off x="8522208" y="3419856"/>
            <a:ext cx="91440" cy="91440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66" name="Shape 64"/>
          <p:cNvSpPr/>
          <p:nvPr/>
        </p:nvSpPr>
        <p:spPr>
          <a:xfrm>
            <a:off x="8522208" y="3639312"/>
            <a:ext cx="91440" cy="91440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accessible from persistent sidebar navigation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457200"/>
            <a:ext cx="7315200" cy="7315200"/>
          </a:xfrm>
          <a:prstGeom prst="ellipse">
            <a:avLst/>
          </a:prstGeom>
          <a:solidFill>
            <a:srgbClr val="00E5C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" name="Shape 2"/>
          <p:cNvSpPr/>
          <p:nvPr/>
        </p:nvSpPr>
        <p:spPr>
          <a:xfrm>
            <a:off x="3520440" y="82296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0E5CC"/>
          </a:solidFill>
          <a:ln/>
        </p:spPr>
      </p:sp>
      <p:sp>
        <p:nvSpPr>
          <p:cNvPr id="5" name="Text 3"/>
          <p:cNvSpPr/>
          <p:nvPr/>
        </p:nvSpPr>
        <p:spPr>
          <a:xfrm>
            <a:off x="3520440" y="84124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— UI/UX Design Presentation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3154680"/>
            <a:ext cx="3657600" cy="22860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 · Dashboard · Tasks · Notes · Calendar ·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602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&amp; Light themes · Slash-command block editor · Delegation chains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913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 · Drawers · Notifications · Breadcrumb navigation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4251960"/>
            <a:ext cx="3657600" cy="22860"/>
          </a:xfrm>
          <a:prstGeom prst="rect">
            <a:avLst/>
          </a:prstGeom>
          <a:solidFill>
            <a:srgbClr val="182A42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438912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E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439826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49194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Pal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438912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B08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39826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9194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Mendhe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VI Semester  ·  2024–25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UI/UX Design</dc:title>
  <dc:subject>PptxGenJS Presentation</dc:subject>
  <dc:creator>Siddhant Pal &amp; Shubham Mendhe</dc:creator>
  <cp:lastModifiedBy>Siddhant Pal &amp; Shubham Mendhe</cp:lastModifiedBy>
  <cp:revision>1</cp:revision>
  <dcterms:created xsi:type="dcterms:W3CDTF">2026-02-23T19:31:15Z</dcterms:created>
  <dcterms:modified xsi:type="dcterms:W3CDTF">2026-02-23T19:31:15Z</dcterms:modified>
</cp:coreProperties>
</file>